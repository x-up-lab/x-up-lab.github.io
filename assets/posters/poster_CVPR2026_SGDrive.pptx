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43559730" cy="20879435"/>
  <p:notesSz cx="7103745" cy="10234295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01" userDrawn="1">
          <p15:clr>
            <a:srgbClr val="A4A3A4"/>
          </p15:clr>
        </p15:guide>
        <p15:guide id="2" pos="13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6601"/>
        <p:guide pos="13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50471" y="1279525"/>
            <a:ext cx="720659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type="body" idx="1"/>
          </p:nvPr>
        </p:nvSpPr>
        <p:spPr>
          <a:xfrm>
            <a:off x="700400" y="4412750"/>
            <a:ext cx="5603225" cy="4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:notes"/>
          <p:cNvSpPr/>
          <p:nvPr>
            <p:ph type="sldImg" idx="2"/>
          </p:nvPr>
        </p:nvSpPr>
        <p:spPr>
          <a:xfrm>
            <a:off x="-131536" y="696750"/>
            <a:ext cx="7267823" cy="348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445000" y="4027916"/>
            <a:ext cx="32669998" cy="6658586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1827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45000" y="10966835"/>
            <a:ext cx="32669998" cy="5041165"/>
          </a:xfrm>
        </p:spPr>
        <p:txBody>
          <a:bodyPr>
            <a:normAutofit/>
          </a:bodyPr>
          <a:lstStyle>
            <a:lvl1pPr marL="0" indent="0" algn="ctr">
              <a:buNone/>
              <a:defRPr sz="730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1391920" indent="0" algn="ctr">
              <a:buNone/>
              <a:defRPr sz="6090"/>
            </a:lvl2pPr>
            <a:lvl3pPr marL="2783840" indent="0" algn="ctr">
              <a:buNone/>
              <a:defRPr sz="5480"/>
            </a:lvl3pPr>
            <a:lvl4pPr marL="4175760" indent="0" algn="ctr">
              <a:buNone/>
              <a:defRPr sz="4870"/>
            </a:lvl4pPr>
            <a:lvl5pPr marL="5568315" indent="0" algn="ctr">
              <a:buNone/>
              <a:defRPr sz="4870"/>
            </a:lvl5pPr>
            <a:lvl6pPr marL="6960235" indent="0" algn="ctr">
              <a:buNone/>
              <a:defRPr sz="4870"/>
            </a:lvl6pPr>
            <a:lvl7pPr marL="8352155" indent="0" algn="ctr">
              <a:buNone/>
              <a:defRPr sz="4870"/>
            </a:lvl7pPr>
            <a:lvl8pPr marL="9744075" indent="0" algn="ctr">
              <a:buNone/>
              <a:defRPr sz="4870"/>
            </a:lvl8pPr>
            <a:lvl9pPr marL="11135995" indent="0" algn="ctr">
              <a:buNone/>
              <a:defRPr sz="487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4125" y="786867"/>
            <a:ext cx="37570498" cy="4035835"/>
          </a:xfrm>
        </p:spPr>
        <p:txBody>
          <a:bodyPr anchor="ctr" anchorCtr="0">
            <a:normAutofit/>
          </a:bodyPr>
          <a:lstStyle>
            <a:lvl1pPr>
              <a:defRPr sz="1339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4125" y="5558333"/>
            <a:ext cx="37570498" cy="13248169"/>
          </a:xfrm>
        </p:spPr>
        <p:txBody>
          <a:bodyPr>
            <a:normAutofit/>
          </a:bodyPr>
          <a:lstStyle>
            <a:lvl1pPr>
              <a:defRPr sz="852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73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609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2059" y="1428313"/>
            <a:ext cx="36828517" cy="12462684"/>
          </a:xfrm>
        </p:spPr>
        <p:txBody>
          <a:bodyPr anchor="b">
            <a:normAutofit/>
          </a:bodyPr>
          <a:lstStyle>
            <a:lvl1pPr>
              <a:defRPr sz="1827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72062" y="14035781"/>
            <a:ext cx="36828513" cy="1971559"/>
          </a:xfrm>
        </p:spPr>
        <p:txBody>
          <a:bodyPr>
            <a:normAutofit/>
          </a:bodyPr>
          <a:lstStyle>
            <a:lvl1pPr marL="0" indent="0">
              <a:buNone/>
              <a:defRPr sz="7305">
                <a:solidFill>
                  <a:schemeClr val="tx1"/>
                </a:solidFill>
              </a:defRPr>
            </a:lvl1pPr>
            <a:lvl2pPr marL="1391920" indent="0">
              <a:buNone/>
              <a:defRPr sz="6090">
                <a:solidFill>
                  <a:schemeClr val="tx1">
                    <a:tint val="75000"/>
                  </a:schemeClr>
                </a:solidFill>
              </a:defRPr>
            </a:lvl2pPr>
            <a:lvl3pPr marL="2783840" indent="0">
              <a:buNone/>
              <a:defRPr sz="5480">
                <a:solidFill>
                  <a:schemeClr val="tx1">
                    <a:tint val="75000"/>
                  </a:schemeClr>
                </a:solidFill>
              </a:defRPr>
            </a:lvl3pPr>
            <a:lvl4pPr marL="4175760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4pPr>
            <a:lvl5pPr marL="5568315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5pPr>
            <a:lvl6pPr marL="6960235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6pPr>
            <a:lvl7pPr marL="8352155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7pPr>
            <a:lvl8pPr marL="9744075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8pPr>
            <a:lvl9pPr marL="11135995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4125" y="786867"/>
            <a:ext cx="37570498" cy="4035835"/>
          </a:xfrm>
        </p:spPr>
        <p:txBody>
          <a:bodyPr>
            <a:normAutofit/>
          </a:bodyPr>
          <a:lstStyle>
            <a:lvl1pPr>
              <a:defRPr sz="13395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14125" y="5558333"/>
            <a:ext cx="18512999" cy="1324816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852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73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609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1371624" y="5558333"/>
            <a:ext cx="18512999" cy="1324816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852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73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609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54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00424" y="1111667"/>
            <a:ext cx="37570498" cy="403583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00424" y="5312742"/>
            <a:ext cx="18427919" cy="2508499"/>
          </a:xfrm>
        </p:spPr>
        <p:txBody>
          <a:bodyPr anchor="b">
            <a:normAutofit/>
          </a:bodyPr>
          <a:lstStyle>
            <a:lvl1pPr marL="0" indent="0">
              <a:buNone/>
              <a:defRPr sz="8525" b="0"/>
            </a:lvl1pPr>
            <a:lvl2pPr marL="1391920" indent="0">
              <a:buNone/>
              <a:defRPr sz="6090" b="1"/>
            </a:lvl2pPr>
            <a:lvl3pPr marL="2783840" indent="0">
              <a:buNone/>
              <a:defRPr sz="5480" b="1"/>
            </a:lvl3pPr>
            <a:lvl4pPr marL="4175760" indent="0">
              <a:buNone/>
              <a:defRPr sz="4870" b="1"/>
            </a:lvl4pPr>
            <a:lvl5pPr marL="5568315" indent="0">
              <a:buNone/>
              <a:defRPr sz="4870" b="1"/>
            </a:lvl5pPr>
            <a:lvl6pPr marL="6960235" indent="0">
              <a:buNone/>
              <a:defRPr sz="4870" b="1"/>
            </a:lvl6pPr>
            <a:lvl7pPr marL="8352155" indent="0">
              <a:buNone/>
              <a:defRPr sz="4870" b="1"/>
            </a:lvl7pPr>
            <a:lvl8pPr marL="9744075" indent="0">
              <a:buNone/>
              <a:defRPr sz="4870" b="1"/>
            </a:lvl8pPr>
            <a:lvl9pPr marL="11135995" indent="0">
              <a:buNone/>
              <a:defRPr sz="487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000424" y="7963534"/>
            <a:ext cx="18427919" cy="1088163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2052249" y="5312742"/>
            <a:ext cx="18518673" cy="2508499"/>
          </a:xfrm>
        </p:spPr>
        <p:txBody>
          <a:bodyPr anchor="b">
            <a:normAutofit/>
          </a:bodyPr>
          <a:lstStyle>
            <a:lvl1pPr marL="0" indent="0">
              <a:buNone/>
              <a:defRPr sz="8525" b="0"/>
            </a:lvl1pPr>
            <a:lvl2pPr marL="1391920" indent="0">
              <a:buNone/>
              <a:defRPr sz="6090" b="1"/>
            </a:lvl2pPr>
            <a:lvl3pPr marL="2783840" indent="0">
              <a:buNone/>
              <a:defRPr sz="5480" b="1"/>
            </a:lvl3pPr>
            <a:lvl4pPr marL="4175760" indent="0">
              <a:buNone/>
              <a:defRPr sz="4870" b="1"/>
            </a:lvl4pPr>
            <a:lvl5pPr marL="5568315" indent="0">
              <a:buNone/>
              <a:defRPr sz="4870" b="1"/>
            </a:lvl5pPr>
            <a:lvl6pPr marL="6960235" indent="0">
              <a:buNone/>
              <a:defRPr sz="4870" b="1"/>
            </a:lvl6pPr>
            <a:lvl7pPr marL="8352155" indent="0">
              <a:buNone/>
              <a:defRPr sz="4870" b="1"/>
            </a:lvl7pPr>
            <a:lvl8pPr marL="9744075" indent="0">
              <a:buNone/>
              <a:defRPr sz="4870" b="1"/>
            </a:lvl8pPr>
            <a:lvl9pPr marL="11135995" indent="0">
              <a:buNone/>
              <a:defRPr sz="487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2052249" y="7963534"/>
            <a:ext cx="18518673" cy="1088163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4750" y="8422084"/>
            <a:ext cx="37570498" cy="4035835"/>
          </a:xfrm>
        </p:spPr>
        <p:txBody>
          <a:bodyPr>
            <a:normAutofit/>
          </a:bodyPr>
          <a:lstStyle>
            <a:lvl1pPr algn="ctr">
              <a:defRPr sz="1339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310720" y="386667"/>
            <a:ext cx="14881570" cy="4872000"/>
          </a:xfrm>
        </p:spPr>
        <p:txBody>
          <a:bodyPr anchor="ctr" anchorCtr="0">
            <a:normAutofit/>
          </a:bodyPr>
          <a:lstStyle>
            <a:lvl1pPr>
              <a:defRPr sz="9745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8521574" y="2333256"/>
            <a:ext cx="20784518" cy="15510650"/>
          </a:xfrm>
        </p:spPr>
        <p:txBody>
          <a:bodyPr/>
          <a:lstStyle>
            <a:lvl1pPr marL="0" indent="0">
              <a:buNone/>
              <a:defRPr sz="9745"/>
            </a:lvl1pPr>
            <a:lvl2pPr marL="1391920" indent="0">
              <a:buNone/>
              <a:defRPr sz="8525"/>
            </a:lvl2pPr>
            <a:lvl3pPr marL="2783840" indent="0">
              <a:buNone/>
              <a:defRPr sz="7305"/>
            </a:lvl3pPr>
            <a:lvl4pPr marL="4175760" indent="0">
              <a:buNone/>
              <a:defRPr sz="6090"/>
            </a:lvl4pPr>
            <a:lvl5pPr marL="5568315" indent="0">
              <a:buNone/>
              <a:defRPr sz="6090"/>
            </a:lvl5pPr>
            <a:lvl6pPr marL="6960235" indent="0">
              <a:buNone/>
              <a:defRPr sz="6090"/>
            </a:lvl6pPr>
            <a:lvl7pPr marL="8352155" indent="0">
              <a:buNone/>
              <a:defRPr sz="6090"/>
            </a:lvl7pPr>
            <a:lvl8pPr marL="9744075" indent="0">
              <a:buNone/>
              <a:defRPr sz="6090"/>
            </a:lvl8pPr>
            <a:lvl9pPr marL="11135995" indent="0">
              <a:buNone/>
              <a:defRPr sz="609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28870" y="6264000"/>
            <a:ext cx="14881570" cy="1160483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6090"/>
            </a:lvl1pPr>
            <a:lvl2pPr marL="1391920" indent="0">
              <a:buNone/>
              <a:defRPr sz="4260"/>
            </a:lvl2pPr>
            <a:lvl3pPr marL="2783840" indent="0">
              <a:buNone/>
              <a:defRPr sz="3655"/>
            </a:lvl3pPr>
            <a:lvl4pPr marL="4175760" indent="0">
              <a:buNone/>
              <a:defRPr sz="3045"/>
            </a:lvl4pPr>
            <a:lvl5pPr marL="5568315" indent="0">
              <a:buNone/>
              <a:defRPr sz="3045"/>
            </a:lvl5pPr>
            <a:lvl6pPr marL="6960235" indent="0">
              <a:buNone/>
              <a:defRPr sz="3045"/>
            </a:lvl6pPr>
            <a:lvl7pPr marL="8352155" indent="0">
              <a:buNone/>
              <a:defRPr sz="3045"/>
            </a:lvl7pPr>
            <a:lvl8pPr marL="9744075" indent="0">
              <a:buNone/>
              <a:defRPr sz="3045"/>
            </a:lvl8pPr>
            <a:lvl9pPr marL="11135995" indent="0">
              <a:buNone/>
              <a:defRPr sz="304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5101255" y="1111667"/>
            <a:ext cx="5463993" cy="17694835"/>
          </a:xfrm>
        </p:spPr>
        <p:txBody>
          <a:bodyPr vert="eaVert">
            <a:normAutofit/>
          </a:bodyPr>
          <a:lstStyle>
            <a:lvl1pPr>
              <a:defRPr sz="1339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94750" y="1111667"/>
            <a:ext cx="31726620" cy="1769483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2994750" y="1679239"/>
            <a:ext cx="37570498" cy="1692495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43559730" cy="4163060"/>
          </a:xfrm>
          <a:prstGeom prst="rect">
            <a:avLst/>
          </a:prstGeom>
          <a:solidFill>
            <a:srgbClr val="729DD3"/>
          </a:solidFill>
          <a:ln>
            <a:noFill/>
          </a:ln>
        </p:spPr>
        <p:txBody>
          <a:bodyPr spcFirstLastPara="1" wrap="square" lIns="47611" tIns="23805" rIns="47611" bIns="2380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994750" y="1111667"/>
            <a:ext cx="37570498" cy="4035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94750" y="5558333"/>
            <a:ext cx="37570498" cy="13248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4750" y="19352667"/>
            <a:ext cx="9801000" cy="111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4429249" y="19352667"/>
            <a:ext cx="14701499" cy="111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0764249" y="19352667"/>
            <a:ext cx="9801000" cy="1111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6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783840" rtl="0" eaLnBrk="1" latinLnBrk="0" hangingPunct="1">
        <a:lnSpc>
          <a:spcPct val="90000"/>
        </a:lnSpc>
        <a:spcBef>
          <a:spcPct val="0"/>
        </a:spcBef>
        <a:buNone/>
        <a:defRPr sz="13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95960" indent="-695960" algn="l" defTabSz="2783840" rtl="0" eaLnBrk="1" latinLnBrk="0" hangingPunct="1">
        <a:lnSpc>
          <a:spcPct val="90000"/>
        </a:lnSpc>
        <a:spcBef>
          <a:spcPts val="3050"/>
        </a:spcBef>
        <a:buFont typeface="Arial" panose="020B0604020202090204" pitchFamily="34" charset="0"/>
        <a:buChar char="•"/>
        <a:defRPr sz="8525" kern="1200">
          <a:solidFill>
            <a:schemeClr val="tx1"/>
          </a:solidFill>
          <a:latin typeface="+mn-lt"/>
          <a:ea typeface="+mn-ea"/>
          <a:cs typeface="+mn-cs"/>
        </a:defRPr>
      </a:lvl1pPr>
      <a:lvl2pPr marL="2087880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7305" kern="1200">
          <a:solidFill>
            <a:schemeClr val="tx1"/>
          </a:solidFill>
          <a:latin typeface="+mn-lt"/>
          <a:ea typeface="+mn-ea"/>
          <a:cs typeface="+mn-cs"/>
        </a:defRPr>
      </a:lvl2pPr>
      <a:lvl3pPr marL="3479800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6090" kern="1200">
          <a:solidFill>
            <a:schemeClr val="tx1"/>
          </a:solidFill>
          <a:latin typeface="+mn-lt"/>
          <a:ea typeface="+mn-ea"/>
          <a:cs typeface="+mn-cs"/>
        </a:defRPr>
      </a:lvl3pPr>
      <a:lvl4pPr marL="4871720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4pPr>
      <a:lvl5pPr marL="6264275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5pPr>
      <a:lvl6pPr marL="7656195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6pPr>
      <a:lvl7pPr marL="9048115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7pPr>
      <a:lvl8pPr marL="10440035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8pPr>
      <a:lvl9pPr marL="11831955" indent="-695960" algn="l" defTabSz="2783840" rtl="0" eaLnBrk="1" latinLnBrk="0" hangingPunct="1">
        <a:lnSpc>
          <a:spcPct val="90000"/>
        </a:lnSpc>
        <a:spcBef>
          <a:spcPct val="306000"/>
        </a:spcBef>
        <a:buFont typeface="Arial" panose="020B0604020202090204" pitchFamily="34" charset="0"/>
        <a:buChar char="•"/>
        <a:defRPr sz="5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1pPr>
      <a:lvl2pPr marL="1391920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2pPr>
      <a:lvl3pPr marL="2783840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3pPr>
      <a:lvl4pPr marL="4175760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4pPr>
      <a:lvl5pPr marL="5568315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5pPr>
      <a:lvl6pPr marL="6960235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6pPr>
      <a:lvl7pPr marL="8352155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7pPr>
      <a:lvl8pPr marL="9744075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8pPr>
      <a:lvl9pPr marL="11135995" algn="l" defTabSz="2783840" rtl="0" eaLnBrk="1" latinLnBrk="0" hangingPunct="1">
        <a:defRPr sz="5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1.xml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429895" y="-121920"/>
            <a:ext cx="43129835" cy="20956905"/>
            <a:chOff x="677" y="-192"/>
            <a:chExt cx="67921" cy="33003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/>
            <a:srcRect b="47174"/>
            <a:stretch>
              <a:fillRect/>
            </a:stretch>
          </p:blipFill>
          <p:spPr>
            <a:xfrm>
              <a:off x="1961" y="7776"/>
              <a:ext cx="12806" cy="3402"/>
            </a:xfrm>
            <a:prstGeom prst="rect">
              <a:avLst/>
            </a:prstGeom>
            <a:ln w="12700" cmpd="sng">
              <a:noFill/>
              <a:prstDash val="solid"/>
            </a:ln>
          </p:spPr>
        </p:pic>
        <p:pic>
          <p:nvPicPr>
            <p:cNvPr id="7" name="图片 6" descr="CVPR_Logo1_Denver 2026_Colo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76" y="-192"/>
              <a:ext cx="11722" cy="4128"/>
            </a:xfrm>
            <a:prstGeom prst="rect">
              <a:avLst/>
            </a:prstGeom>
          </p:spPr>
        </p:pic>
        <p:pic>
          <p:nvPicPr>
            <p:cNvPr id="8" name="图片 7" descr="校徽及英文校名全称中轴式组合规范"/>
            <p:cNvPicPr>
              <a:picLocks noChangeAspect="1"/>
            </p:cNvPicPr>
            <p:nvPr/>
          </p:nvPicPr>
          <p:blipFill>
            <a:blip r:embed="rId3"/>
            <a:srcRect l="28945" r="27744" b="26839"/>
            <a:stretch>
              <a:fillRect/>
            </a:stretch>
          </p:blipFill>
          <p:spPr>
            <a:xfrm>
              <a:off x="677" y="0"/>
              <a:ext cx="3402" cy="3402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3202" y="0"/>
              <a:ext cx="44178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6600">
                  <a:latin typeface="Times New Roman Regular" panose="02020503050405090304" charset="0"/>
                  <a:cs typeface="Times New Roman Regular" panose="02020503050405090304" charset="0"/>
                </a:rPr>
                <a:t>SGDrive: Scene-to-Goal Hierarchical World Cognition for Autonomous Driving</a:t>
              </a:r>
              <a:endParaRPr lang="zh-CN" altLang="en-US" sz="66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524" y="1845"/>
              <a:ext cx="45521" cy="227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Jingyu Li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1,2∗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Junjie Wu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3∗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Dongnan Hu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4,2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Xiangkai Huang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</a:t>
              </a:r>
              <a:r>
                <a:rPr lang="en-US" altLang="zh-CN" sz="4400"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Bin Sun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Zhihui Hao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Xianpeng Lang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Xiatian Zhu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5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Li Zhang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1,2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  <a:sym typeface="Wingdings" panose="05000000000000000000" charset="0"/>
                </a:rPr>
                <a:t></a:t>
              </a:r>
              <a:endParaRPr lang="zh-CN" altLang="en-US" sz="44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1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Fudan University 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2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Shanghai Innovation Institute</a:t>
              </a:r>
              <a:r>
                <a:rPr lang="en-US" altLang="zh-CN" sz="4400"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3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Li Auto Inc. 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4 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Tongji University </a:t>
              </a:r>
              <a:r>
                <a:rPr lang="zh-CN" altLang="en-US" sz="4400" baseline="30000">
                  <a:latin typeface="Times New Roman Regular" panose="02020503050405090304" charset="0"/>
                  <a:cs typeface="Times New Roman Regular" panose="02020503050405090304" charset="0"/>
                </a:rPr>
                <a:t>5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</a:rPr>
                <a:t> University of Surrey</a:t>
              </a:r>
              <a:endParaRPr lang="zh-CN" altLang="en-US" sz="44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628" y="4416"/>
              <a:ext cx="34300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4800">
                  <a:solidFill>
                    <a:schemeClr val="accent6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https://github.com/LogosRoboticsGroup/SGDrive</a:t>
              </a:r>
              <a:endParaRPr lang="zh-CN" altLang="en-US" sz="4800">
                <a:solidFill>
                  <a:schemeClr val="accent6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77" y="6585"/>
              <a:ext cx="15894" cy="9821"/>
              <a:chOff x="677" y="6585"/>
              <a:chExt cx="18427" cy="12833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677" y="7120"/>
                <a:ext cx="18427" cy="12298"/>
              </a:xfrm>
              <a:prstGeom prst="roundRect">
                <a:avLst>
                  <a:gd name="adj" fmla="val 6023"/>
                </a:avLst>
              </a:prstGeom>
              <a:noFill/>
              <a:ln w="38100" cap="flat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7267" y="6585"/>
                <a:ext cx="5247" cy="1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3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 Regular" panose="02020503050405090304" charset="0"/>
                    <a:cs typeface="Times New Roman Regular" panose="02020503050405090304" charset="0"/>
                  </a:rPr>
                  <a:t>Motivation</a:t>
                </a:r>
                <a:endParaRPr lang="en-US" altLang="zh-CN" sz="3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p:grpSp>
        <p:pic>
          <p:nvPicPr>
            <p:cNvPr id="22" name="图片 21" descr="bad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22" y="3183"/>
              <a:ext cx="3402" cy="3402"/>
            </a:xfrm>
            <a:prstGeom prst="rect">
              <a:avLst/>
            </a:prstGeom>
          </p:spPr>
        </p:pic>
        <p:pic>
          <p:nvPicPr>
            <p:cNvPr id="24" name="图片 23" descr="学院LOGO透明"/>
            <p:cNvPicPr>
              <a:picLocks noChangeAspect="1"/>
            </p:cNvPicPr>
            <p:nvPr/>
          </p:nvPicPr>
          <p:blipFill>
            <a:blip r:embed="rId5"/>
            <a:srcRect b="53628"/>
            <a:stretch>
              <a:fillRect/>
            </a:stretch>
          </p:blipFill>
          <p:spPr>
            <a:xfrm>
              <a:off x="4079" y="0"/>
              <a:ext cx="4383" cy="3402"/>
            </a:xfrm>
            <a:prstGeom prst="rect">
              <a:avLst/>
            </a:prstGeom>
          </p:spPr>
        </p:pic>
        <p:pic>
          <p:nvPicPr>
            <p:cNvPr id="29" name="图片 28" descr="Li_Auto_Chinese_logo.sv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12" y="1191"/>
              <a:ext cx="4950" cy="1020"/>
            </a:xfrm>
            <a:prstGeom prst="rect">
              <a:avLst/>
            </a:prstGeom>
          </p:spPr>
        </p:pic>
        <p:pic>
          <p:nvPicPr>
            <p:cNvPr id="30" name="图片 29" descr="University_of_Surrey_logo.sv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67" y="3876"/>
              <a:ext cx="7500" cy="2235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63194" y="3876"/>
              <a:ext cx="4795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US" altLang="zh-CN" sz="72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</a:rPr>
                <a:t>Poster</a:t>
              </a:r>
              <a:endParaRPr lang="en-US" altLang="zh-CN" sz="7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96" y="7601"/>
              <a:ext cx="27282" cy="16631"/>
            </a:xfrm>
            <a:prstGeom prst="rect">
              <a:avLst/>
            </a:prstGeom>
          </p:spPr>
        </p:pic>
        <p:grpSp>
          <p:nvGrpSpPr>
            <p:cNvPr id="34" name="组合 33"/>
            <p:cNvGrpSpPr/>
            <p:nvPr/>
          </p:nvGrpSpPr>
          <p:grpSpPr>
            <a:xfrm>
              <a:off x="678" y="16503"/>
              <a:ext cx="15894" cy="16308"/>
              <a:chOff x="677" y="6713"/>
              <a:chExt cx="18427" cy="12705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677" y="7120"/>
                <a:ext cx="18427" cy="12298"/>
              </a:xfrm>
              <a:prstGeom prst="roundRect">
                <a:avLst>
                  <a:gd name="adj" fmla="val 5771"/>
                </a:avLst>
              </a:prstGeom>
              <a:noFill/>
              <a:ln w="38100" cap="flat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620" y="6713"/>
                <a:ext cx="10299" cy="7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3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 Regular" panose="02020503050405090304" charset="0"/>
                    <a:cs typeface="Times New Roman Regular" panose="02020503050405090304" charset="0"/>
                  </a:rPr>
                  <a:t>Key points and contributions</a:t>
                </a:r>
                <a:endParaRPr lang="en-US" altLang="zh-CN" sz="3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7045" y="6585"/>
              <a:ext cx="29092" cy="26226"/>
              <a:chOff x="677" y="6585"/>
              <a:chExt cx="18427" cy="12833"/>
            </a:xfrm>
          </p:grpSpPr>
          <p:sp>
            <p:nvSpPr>
              <p:cNvPr id="38" name="圆角矩形 37"/>
              <p:cNvSpPr/>
              <p:nvPr/>
            </p:nvSpPr>
            <p:spPr>
              <a:xfrm>
                <a:off x="677" y="6846"/>
                <a:ext cx="18427" cy="12572"/>
              </a:xfrm>
              <a:prstGeom prst="roundRect">
                <a:avLst>
                  <a:gd name="adj" fmla="val 7550"/>
                </a:avLst>
              </a:prstGeom>
              <a:noFill/>
              <a:ln w="38100" cap="flat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7267" y="6585"/>
                <a:ext cx="5247" cy="4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3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 Regular" panose="02020503050405090304" charset="0"/>
                    <a:cs typeface="Times New Roman Regular" panose="02020503050405090304" charset="0"/>
                  </a:rPr>
                  <a:t>SGDrive overview</a:t>
                </a:r>
                <a:endParaRPr lang="en-US" altLang="zh-CN" sz="3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p:grpSp>
        <p:sp>
          <p:nvSpPr>
            <p:cNvPr id="40" name="文本框 39"/>
            <p:cNvSpPr txBox="1"/>
            <p:nvPr/>
          </p:nvSpPr>
          <p:spPr>
            <a:xfrm>
              <a:off x="972" y="11294"/>
              <a:ext cx="16724" cy="4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buFont typeface="Wingdings" panose="05000000000000000000" charset="0"/>
                <a:buNone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Previous methods suffer from several key 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indent="0">
                <a:buFont typeface="Wingdings" panose="05000000000000000000" charset="0"/>
                <a:buNone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limitations: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Lack of spatial perception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Difficulty in discerning critical information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Lack of future world state forecast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/>
            <a:srcRect t="55373" b="-4984"/>
            <a:stretch>
              <a:fillRect/>
            </a:stretch>
          </p:blipFill>
          <p:spPr>
            <a:xfrm>
              <a:off x="1961" y="17377"/>
              <a:ext cx="12806" cy="3195"/>
            </a:xfrm>
            <a:prstGeom prst="rect">
              <a:avLst/>
            </a:prstGeom>
            <a:ln w="12700" cmpd="sng">
              <a:noFill/>
              <a:prstDash val="solid"/>
            </a:ln>
          </p:spPr>
        </p:pic>
        <p:sp>
          <p:nvSpPr>
            <p:cNvPr id="42" name="文本框 41"/>
            <p:cNvSpPr txBox="1"/>
            <p:nvPr/>
          </p:nvSpPr>
          <p:spPr>
            <a:xfrm>
              <a:off x="677" y="20134"/>
              <a:ext cx="17643" cy="4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Our SGDrive acquires comprehensive driving-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relevant world knowledge from three aspects: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Scene geometric layout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Perceiving driving-relevant agents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Wingdings" panose="05000000000000000000" charset="0"/>
                <a:buChar char=""/>
              </a:pP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Inferring driving goal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77" y="24888"/>
              <a:ext cx="15324" cy="7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4000">
                  <a:solidFill>
                    <a:schemeClr val="accent6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Contributions</a:t>
              </a:r>
              <a:r>
                <a:rPr lang="en-US" altLang="zh-CN" sz="4000">
                  <a:latin typeface="Times New Roman Regular" panose="02020503050405090304" charset="0"/>
                  <a:cs typeface="Times New Roman Regular" panose="02020503050405090304" charset="0"/>
                </a:rPr>
                <a:t>: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342900" indent="-342900" algn="l">
                <a:buFont typeface="Arial" panose="020B0604020202090204" pitchFamily="34" charset="0"/>
                <a:buChar char="•"/>
              </a:pPr>
              <a:r>
                <a:rPr lang="en-US" altLang="zh-CN" sz="4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We propose a novel Vision-Language-Action model with world representation for autonomous driving.</a:t>
              </a:r>
              <a:endParaRPr lang="en-US" altLang="zh-CN" sz="4000" dirty="0"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  <a:p>
              <a:pPr marL="342900" indent="-342900" algn="l">
                <a:buFont typeface="Arial" panose="020B0604020202090204" pitchFamily="34" charset="0"/>
                <a:buChar char="•"/>
              </a:pPr>
              <a:r>
                <a:rPr lang="en-US" altLang="zh-CN" sz="4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We unlock the world cognition capability of VLA models.</a:t>
              </a:r>
              <a:endParaRPr lang="en-US" altLang="zh-CN" sz="4000" dirty="0"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  <a:p>
              <a:pPr marL="342900" indent="-342900" algn="l">
                <a:buFont typeface="Arial" panose="020B0604020202090204" pitchFamily="34" charset="0"/>
                <a:buChar char="•"/>
              </a:pPr>
              <a:r>
                <a:rPr lang="en-US" altLang="zh-CN" sz="4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SGDrive achieves state-of-the-art</a:t>
              </a:r>
              <a:endParaRPr lang="en-US" altLang="zh-CN" sz="4000" dirty="0"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  <a:p>
              <a:pPr marL="342900" indent="-342900" algn="l">
                <a:buFont typeface="Arial" panose="020B0604020202090204" pitchFamily="34" charset="0"/>
                <a:buChar char="•"/>
              </a:pPr>
              <a:r>
                <a:rPr lang="en-US" altLang="zh-CN" sz="4000" dirty="0"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performance on the NAVSIM benchmark </a:t>
              </a:r>
              <a:endParaRPr lang="en-US" altLang="zh-CN" sz="40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696" y="24549"/>
              <a:ext cx="13533" cy="7487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/>
          </p:nvSpPr>
          <p:spPr>
            <a:xfrm>
              <a:off x="31645" y="24435"/>
              <a:ext cx="13749" cy="444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p>
              <a:pPr algn="ctr"/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The SGDrive pipeline introduces hierarchical 〈</a:t>
              </a:r>
              <a:r>
                <a:rPr lang="zh-CN" altLang="en-US" sz="440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world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〉 queries (</a:t>
              </a:r>
              <a:r>
                <a:rPr lang="zh-CN" altLang="en-US" sz="440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scene, agent, and goal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) for world modeling and trajectory generation.</a:t>
              </a:r>
              <a:endParaRPr lang="zh-CN" altLang="en-US" sz="44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1645" y="28881"/>
              <a:ext cx="13748" cy="334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W</a:t>
              </a:r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e introduce a block-wise structured</a:t>
              </a:r>
              <a:endParaRPr lang="zh-CN" altLang="en-US" sz="4400">
                <a:latin typeface="Times New Roman Regular" panose="02020503050405090304" charset="0"/>
                <a:cs typeface="Times New Roman Regular" panose="02020503050405090304" charset="0"/>
                <a:sym typeface="+mn-ea"/>
              </a:endParaRPr>
            </a:p>
            <a:p>
              <a:pPr algn="ctr"/>
              <a:r>
                <a:rPr lang="zh-CN" altLang="en-US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attention mas</a:t>
              </a:r>
              <a:r>
                <a:rPr lang="en-US" altLang="zh-CN" sz="440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k to address multi-task  representational contamination</a:t>
              </a:r>
              <a:endParaRPr lang="en-US" altLang="zh-CN" sz="4400">
                <a:latin typeface="Times New Roman Regular" panose="02020503050405090304" charset="0"/>
                <a:cs typeface="Times New Roman Regular" panose="02020503050405090304" charset="0"/>
                <a:sym typeface="+mn-ea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46611" y="6561"/>
              <a:ext cx="21615" cy="26226"/>
              <a:chOff x="677" y="6585"/>
              <a:chExt cx="18427" cy="12833"/>
            </a:xfrm>
          </p:grpSpPr>
          <p:sp>
            <p:nvSpPr>
              <p:cNvPr id="48" name="圆角矩形 47"/>
              <p:cNvSpPr/>
              <p:nvPr/>
            </p:nvSpPr>
            <p:spPr>
              <a:xfrm>
                <a:off x="677" y="6846"/>
                <a:ext cx="18427" cy="12572"/>
              </a:xfrm>
              <a:prstGeom prst="roundRect">
                <a:avLst>
                  <a:gd name="adj" fmla="val 7550"/>
                </a:avLst>
              </a:prstGeom>
              <a:noFill/>
              <a:ln w="38100" cap="flat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267" y="6585"/>
                <a:ext cx="5247" cy="4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36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 Regular" panose="02020503050405090304" charset="0"/>
                    <a:cs typeface="Times New Roman Regular" panose="02020503050405090304" charset="0"/>
                  </a:rPr>
                  <a:t>Experiments</a:t>
                </a:r>
                <a:endParaRPr lang="en-US" altLang="zh-CN" sz="36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p:grp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021" y="7601"/>
              <a:ext cx="21240" cy="13860"/>
            </a:xfrm>
            <a:prstGeom prst="rect">
              <a:avLst/>
            </a:prstGeom>
          </p:spPr>
        </p:pic>
        <p:cxnSp>
          <p:nvCxnSpPr>
            <p:cNvPr id="51" name="直接连接符 50"/>
            <p:cNvCxnSpPr/>
            <p:nvPr/>
          </p:nvCxnSpPr>
          <p:spPr>
            <a:xfrm>
              <a:off x="46879" y="21591"/>
              <a:ext cx="21040" cy="0"/>
            </a:xfrm>
            <a:prstGeom prst="line">
              <a:avLst/>
            </a:prstGeom>
            <a:ln w="28575" cmpd="dbl"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29" y="21721"/>
              <a:ext cx="21060" cy="5100"/>
            </a:xfrm>
            <a:prstGeom prst="rect">
              <a:avLst/>
            </a:prstGeom>
          </p:spPr>
        </p:pic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7029" y="27081"/>
              <a:ext cx="10380" cy="5010"/>
            </a:xfrm>
            <a:prstGeom prst="rect">
              <a:avLst/>
            </a:prstGeom>
          </p:spPr>
        </p:pic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064" y="27319"/>
              <a:ext cx="9270" cy="2640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58045" y="29959"/>
              <a:ext cx="9720" cy="26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Conclusion/Concat us:</a:t>
              </a:r>
              <a:endParaRPr lang="en-US" altLang="zh-CN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We introduce SGDrive, a novel framework that explicitly structures a VLM’s representation learning around a driving-specific knowledge hierarchy, enabling safer and more reliable autonomous driving.</a:t>
              </a:r>
              <a:endParaRPr lang="en-US" altLang="zh-CN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marL="285750" indent="-285750">
                <a:buFont typeface="Arial" panose="020B0604020202090204" pitchFamily="34" charset="0"/>
                <a:buChar char="•"/>
              </a:pPr>
              <a:r>
                <a:rPr lang="en-US" altLang="zh-CN">
                  <a:solidFill>
                    <a:schemeClr val="tx1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Email: jingyuli0911@gmail.com</a:t>
              </a:r>
              <a:endParaRPr lang="en-US" altLang="zh-CN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pic>
        <p:nvPicPr>
          <p:cNvPr id="1" name="图片 0" descr="WechatIMG187"/>
          <p:cNvPicPr>
            <a:picLocks noChangeAspect="1"/>
          </p:cNvPicPr>
          <p:nvPr/>
        </p:nvPicPr>
        <p:blipFill>
          <a:blip r:embed="rId14"/>
          <a:srcRect l="15231" t="27250" r="14876" b="18952"/>
          <a:stretch>
            <a:fillRect/>
          </a:stretch>
        </p:blipFill>
        <p:spPr>
          <a:xfrm>
            <a:off x="37458650" y="2015490"/>
            <a:ext cx="2068830" cy="20288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EwMDg2NDI1MGU1NjVjZjI0YTc0MDE1YmE1NTE2Y2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WPS 演示</Application>
  <PresentationFormat>宽屏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Twentieth Century</vt:lpstr>
      <vt:lpstr>Times New Roman Regular</vt:lpstr>
      <vt:lpstr>Wingdings</vt:lpstr>
      <vt:lpstr>Times New Roman</vt:lpstr>
      <vt:lpstr>Thonburi</vt:lpstr>
      <vt:lpstr>Arial Unicode MS</vt:lpstr>
      <vt:lpstr>Calibri</vt:lpstr>
      <vt:lpstr>Helvetica Neue</vt:lpstr>
      <vt:lpstr>微软雅黑</vt:lpstr>
      <vt:lpstr>汉仪旗黑</vt:lpstr>
      <vt:lpstr>宋体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靖无名</cp:lastModifiedBy>
  <cp:revision>13</cp:revision>
  <dcterms:created xsi:type="dcterms:W3CDTF">2026-05-28T06:26:43Z</dcterms:created>
  <dcterms:modified xsi:type="dcterms:W3CDTF">2026-05-28T06:26:43Z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2052-6.12.1.8902</vt:lpwstr>
  </property>
  <property fmtid="{D5CDD505-2E9C-101B-9397-08002B2CF9AE}" pid="3" name="ICV">
    <vt:lpwstr>0F16FF66CD5527DADD84056A42DC8BD5_41</vt:lpwstr>
  </property>
</Properties>
</file>